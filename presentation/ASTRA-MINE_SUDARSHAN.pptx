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 per Wh</c:v>
                </c:pt>
              </c:strCache>
            </c:strRef>
          </c:tx>
          <c:dPt>
            <c:idx val="0"/>
            <c:spPr>
              <a:solidFill>
                <a:srgbClr val="6D82AD"/>
              </a:solidFill>
            </c:spPr>
          </c:dPt>
          <c:dPt>
            <c:idx val="1"/>
            <c:spPr>
              <a:solidFill>
                <a:srgbClr val="4A6FA5"/>
              </a:solidFill>
            </c:spPr>
          </c:dPt>
          <c:dPt>
            <c:idx val="2"/>
            <c:spPr>
              <a:solidFill>
                <a:srgbClr val="B8860B"/>
              </a:solidFill>
            </c:spPr>
          </c:dPt>
          <c:dPt>
            <c:idx val="3"/>
            <c:spPr>
              <a:solidFill>
                <a:srgbClr val="29D3FF"/>
              </a:solidFill>
            </c:spPr>
          </c:dPt>
          <c:cat>
            <c:strRef>
              <c:f>Sheet1!$A$2:$A$5</c:f>
              <c:strCache>
                <c:ptCount val="4"/>
                <c:pt idx="0">
                  <c:v>nearest</c:v>
                </c:pt>
                <c:pt idx="1">
                  <c:v>shortest
path</c:v>
                </c:pt>
                <c:pt idx="2">
                  <c:v>resource
greedy</c:v>
                </c:pt>
                <c:pt idx="3">
                  <c:v>FULL
(ours)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300.8</c:v>
                </c:pt>
                <c:pt idx="1">
                  <c:v>302.9</c:v>
                </c:pt>
                <c:pt idx="2">
                  <c:v>345.6</c:v>
                </c:pt>
                <c:pt idx="3">
                  <c:v>337.2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D8E4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D2C4D"/>
            </a:solidFill>
          </a:ln>
        </c:spPr>
        <c:txPr>
          <a:bodyPr/>
          <a:lstStyle/>
          <a:p>
            <a:pPr>
              <a:defRPr sz="1100">
                <a:solidFill>
                  <a:srgbClr val="D8E4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D82A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D82AD"/>
          </a:solidFill>
          <a:latin typeface="Segoe UI"/>
        </a:defRPr>
      </a:pPr>
      <a:endParaRPr lang="en-US"/>
    </a:p>
  </c:txPr>
  <c:externalData r:id="rId1">
    <c:autoUpdate val="0"/>
  </c:externalData>
  <c:spPr>
    <a:solidFill>
      <a:srgbClr val="101A30"/>
    </a:solidFill>
    <a:ln>
      <a:noFill/>
    </a:ln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97279"/>
            <a:ext cx="4206240" cy="4206240"/>
          </a:xfrm>
          <a:prstGeom prst="ellipse">
            <a:avLst/>
          </a:prstGeom>
          <a:noFill/>
          <a:ln w="15240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548639"/>
            <a:ext cx="3108960" cy="3108960"/>
          </a:xfrm>
          <a:prstGeom prst="ellipse">
            <a:avLst/>
          </a:prstGeom>
          <a:noFill/>
          <a:ln w="15240">
            <a:solidFill>
              <a:srgbClr val="141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0"/>
            <a:ext cx="2011680" cy="2011680"/>
          </a:xfrm>
          <a:prstGeom prst="ellipse">
            <a:avLst/>
          </a:prstGeom>
          <a:noFill/>
          <a:ln w="15240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960120"/>
            <a:ext cx="91440" cy="91440"/>
          </a:xfrm>
          <a:prstGeom prst="ellipse">
            <a:avLst/>
          </a:prstGeom>
          <a:noFill/>
          <a:ln w="76200">
            <a:solidFill>
              <a:srgbClr val="29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9D3FF"/>
                </a:solidFill>
                <a:latin typeface="Segoe UI"/>
              </a:rPr>
              <a:t>S U D A R S H A N   ·   S P P N   S P A C E   R E S E A R C H   T E A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Segoe UI"/>
              </a:rPr>
              <a:t>ASTRA-MINE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D8E4FF"/>
                </a:solidFill>
                <a:latin typeface="Segoe UI"/>
              </a:rPr>
              <a:t>Autonomous AI-Driven Extraterrestrial Resource Prospecting &amp; ISRU Demonstrator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1012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FFB03A"/>
                </a:solidFill>
                <a:latin typeface="Segoe UI"/>
              </a:rPr>
              <a:t>“Mine the resource. Optimize the mission. Build the future.”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605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174235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8E4FF"/>
                </a:solidFill>
                <a:latin typeface="Segoe UI"/>
              </a:rPr>
              <a:t>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55648" y="416052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55648" y="4174235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8E4FF"/>
                </a:solidFill>
                <a:latin typeface="Segoe UI"/>
              </a:rPr>
              <a:t>ROBOTICS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57015" y="41605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7015" y="4174235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8E4FF"/>
                </a:solidFill>
                <a:latin typeface="Segoe UI"/>
              </a:rPr>
              <a:t>EMBEDDED SYSTEMS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41605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5624" y="4174235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8E4FF"/>
                </a:solidFill>
                <a:latin typeface="Segoe UI"/>
              </a:rPr>
              <a:t>SPACE TECHNOLOGY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41605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4232" y="4174235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8E4FF"/>
                </a:solidFill>
                <a:latin typeface="Segoe UI"/>
              </a:rPr>
              <a:t>RESEARCH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74920"/>
            <a:ext cx="2011680" cy="18288"/>
          </a:xfrm>
          <a:prstGeom prst="rect">
            <a:avLst/>
          </a:prstGeom>
          <a:solidFill>
            <a:srgbClr val="1D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57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D82AD"/>
                </a:solidFill>
                <a:latin typeface="Segoe UI"/>
              </a:rPr>
              <a:t>Mini-Project Presentation  · 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172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D82AD"/>
                </a:solidFill>
                <a:latin typeface="Segoe UI"/>
              </a:rPr>
              <a:t>github.com/Shreyasderaje/ASTRA-MINE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WHAT WE SET OUT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ASTRA-MINE  ·  SUDARSHAN — SPPN Space Research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D82AD"/>
                </a:solidFill>
                <a:latin typeface="Segoe U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5468112" cy="1481328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9D3FF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4279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Build an autonomous rover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84248"/>
            <a:ext cx="42793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4-wheel prototype with AI 'brain' (Raspberry Pi 5) and real-time 'reflexes' (ESP32) on a 3 m lunar-analogue testbed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481328"/>
            <a:ext cx="5468112" cy="1481328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27632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9D3FF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1645920"/>
            <a:ext cx="4279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Map buried resources with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1984248"/>
            <a:ext cx="42793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Camera-proxy perception fused into a live resource-probability map of unknown terrain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45536"/>
            <a:ext cx="5468112" cy="1481328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9D3FF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310128"/>
            <a:ext cx="4279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Decide where to mine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48456"/>
            <a:ext cx="42793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Resource-energy-risk target selection - the rover computes the best site per unit of energy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145536"/>
            <a:ext cx="5468112" cy="1481328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2918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9D3FF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310128"/>
            <a:ext cx="4279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Close the autonomous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3648456"/>
            <a:ext cx="42793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Survey → decide → navigate → mine → return → deliver, with self re-planning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809744"/>
            <a:ext cx="5468112" cy="1481328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56048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9D3FF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974336"/>
            <a:ext cx="4279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Benchmark the decision making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312664"/>
            <a:ext cx="42793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Four strategies compared on identical terrain: resource yield per watt-hour (g/Wh)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4809744"/>
            <a:ext cx="5468112" cy="1481328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956048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9D3FF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4974336"/>
            <a:ext cx="4279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Command it like a 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5312664"/>
            <a:ext cx="42793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Live Mission Control digital twin streaming pose, battery, decisions and yields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WHY THIS PROJECT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The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ASTRA-MINE  ·  SUDARSHAN — SPPN Space Research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D82AD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D8E4FF"/>
                </a:solidFill>
                <a:latin typeface="Segoe UI"/>
              </a:rPr>
              <a:t>Every kilogram launched from Earth costs </a:t>
            </a:r>
            <a:r>
              <a:rPr sz="1900" b="1" i="0">
                <a:solidFill>
                  <a:srgbClr val="FFB03A"/>
                </a:solidFill>
                <a:latin typeface="Segoe UI"/>
              </a:rPr>
              <a:t>thousands of dollars</a:t>
            </a:r>
            <a:r>
              <a:rPr sz="1900" b="0" i="0">
                <a:solidFill>
                  <a:srgbClr val="D8E4FF"/>
                </a:solidFill>
                <a:latin typeface="Segoe UI"/>
              </a:rPr>
              <a:t> — and a lunar base needs water, oxygen and building material forever.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06040"/>
            <a:ext cx="5394960" cy="3063240"/>
          </a:xfrm>
          <a:prstGeom prst="roundRect">
            <a:avLst>
              <a:gd name="adj" fmla="val 55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5470"/>
                </a:solidFill>
                <a:latin typeface="Segoe UI"/>
              </a:rPr>
              <a:t>THE EARTH-SUPPLY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5470"/>
                </a:solidFill>
                <a:latin typeface="Segoe U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21868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D8E4FF"/>
                </a:solidFill>
                <a:latin typeface="Segoe UI"/>
              </a:rPr>
              <a:t>Launch everything from Earth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931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5470"/>
                </a:solidFill>
                <a:latin typeface="Segoe U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65760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D8E4FF"/>
                </a:solidFill>
                <a:latin typeface="Segoe UI"/>
              </a:rPr>
              <a:t>Pay per kilogram, every 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7822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5470"/>
                </a:solidFill>
                <a:latin typeface="Segoe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4096511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D8E4FF"/>
                </a:solidFill>
                <a:latin typeface="Segoe UI"/>
              </a:rPr>
              <a:t>No resupply independence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171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5470"/>
                </a:solidFill>
                <a:latin typeface="Segoe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4535423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D8E4FF"/>
                </a:solidFill>
                <a:latin typeface="Segoe UI"/>
              </a:rPr>
              <a:t>Not scalable for a lunar economy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In-Situ Resource Utilization (ISRU) is NASA &amp; ESA's active answer — use what is already there.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606040"/>
            <a:ext cx="5532120" cy="306324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7889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DDC84"/>
                </a:solidFill>
                <a:latin typeface="Segoe UI"/>
              </a:rPr>
              <a:t>THE ISRU CHAIN — WHAT ASTRA-MINE DEMONSTRATES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004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DDC84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321868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D8E4FF"/>
                </a:solidFill>
                <a:latin typeface="Segoe UI"/>
              </a:rPr>
              <a:t>Find the resource (prospecting)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3931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DDC84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36576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D8E4FF"/>
                </a:solidFill>
                <a:latin typeface="Segoe UI"/>
              </a:rPr>
              <a:t>Decide if it is worth the trip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7822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DDC84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4096511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D8E4FF"/>
                </a:solidFill>
                <a:latin typeface="Segoe UI"/>
              </a:rPr>
              <a:t>Extract and carry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5171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DDC84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4535423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D8E4FF"/>
                </a:solidFill>
                <a:latin typeface="Segoe UI"/>
              </a:rPr>
              <a:t>Process → estimate usable yield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074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Water near the lunar poles can even become rocket propellant — energy in space buys more missions.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Our purpose: </a:t>
            </a:r>
            <a:r>
              <a:rPr sz="1350" b="0" i="0">
                <a:solidFill>
                  <a:srgbClr val="D8E4FF"/>
                </a:solidFill>
                <a:latin typeface="Segoe UI"/>
              </a:rPr>
              <a:t>build and measure the decision intelligence such a mining system would need — at student scale, with real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WHERE THIS TECHNOLOGY LANDS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Uses &amp;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ASTRA-MINE  ·  SUDARSHAN — SPPN Space Research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D82AD"/>
                </a:solidFill>
                <a:latin typeface="Segoe U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602736" cy="196596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801368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9D3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313432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Planetary &amp; surface robotics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862072"/>
            <a:ext cx="31638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Lunar/Mars prospecting rovers; the same loop flies on future ISRU 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3107" y="1600200"/>
            <a:ext cx="3602736" cy="196596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2564" y="1801368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9D3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2564" y="2313432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Autonomous mining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2564" y="2862072"/>
            <a:ext cx="31638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Self-directed haul &amp; dig decisions that optimize yield per litre of fuel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600200"/>
            <a:ext cx="3602736" cy="196596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801368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9D3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313432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Disaster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862072"/>
            <a:ext cx="31638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Robots that map rubble, find victims' zones and ration battery autonomy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85615"/>
            <a:ext cx="3602736" cy="196596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3986783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9D3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4498848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Unknown-terrain exploration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5047488"/>
            <a:ext cx="31638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Caves, tunnels, poles, ocean floors — anywhere GPS and maps do not exist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3107" y="3785615"/>
            <a:ext cx="3602736" cy="196596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2564" y="3986783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9D3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2564" y="4498848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Hazardous-site inspection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2564" y="5047488"/>
            <a:ext cx="31638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Nuclear, chemical and deep-industrial sites where humans should not walk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3296" y="3785615"/>
            <a:ext cx="3602736" cy="196596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986783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9D3FF"/>
                </a:solidFill>
                <a:latin typeface="Segoe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498848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Precision agriculture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5047488"/>
            <a:ext cx="31638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Soil-sensing scouts that decide where sampling pays off per unit energy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D8E4FF"/>
                </a:solidFill>
                <a:latin typeface="Segoe UI"/>
              </a:rPr>
              <a:t>One architecture — sense → believe → decide → act — transfers to every one of these domains.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HONEST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Limitations &amp; Environmental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ASTRA-MINE  ·  SUDARSHAN — SPPN Space Research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D82AD"/>
                </a:solidFill>
                <a:latin typeface="Segoe U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486400" cy="4206240"/>
          </a:xfrm>
          <a:prstGeom prst="roundRect">
            <a:avLst>
              <a:gd name="adj" fmla="val 55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B03A"/>
                </a:solidFill>
                <a:latin typeface="Segoe UI"/>
              </a:rPr>
              <a:t>HONEST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Terrestrial analogue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we demonstrate the intelligence on proxy markers — not real lunar 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Proxy sensing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colour-marked simulant stands in for spectral detection (future work: NIR)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Odometry-only localization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13632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encoders + IMU drift a few %; no SLAM yet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5254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Small, self-made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26864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vision model is trained on our own synthetic + testbed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6577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Prototype-scale energy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40096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calibrated to ≈15% on the testbed, not flight-grade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54480"/>
            <a:ext cx="5486400" cy="420624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7830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DDC84"/>
                </a:solidFill>
                <a:latin typeface="Segoe UI"/>
              </a:rPr>
              <a:t>ENVIRONMENTAL RESPONSIBILITY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1284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No real chemistry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87168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water → propellant is a modelled pathway; we never produce or store H₂/O₂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26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No planetary contamination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0040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everything happens in an indoor sand testbed — the Moon stays untouched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63931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Reusable standard parts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913632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COTS electronics chosen for re-use across semesters → minimal e-waste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35254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Battery stewardship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26864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sealed Li-ion pack with BMS; retired cells routed to e-waste recycling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6577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Tiny energy footprint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340096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≈40 Wh per mission — less than a laptop hour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D8E4FF"/>
                </a:solidFill>
                <a:latin typeface="Segoe UI"/>
              </a:rPr>
              <a:t>We say these out loud — scope honesty is part of the engineering.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THE BRAIN — IDENTICAL IN SIMULATION &amp; ON THE ROVER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Software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ASTRA-MINE  ·  SUDARSHAN — SPPN Space Research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D82AD"/>
                </a:solidFill>
                <a:latin typeface="Segoe U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627632" cy="96012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12264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CAMERA + TOF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2432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6D82AD"/>
                </a:solidFill>
                <a:latin typeface="Segoe UI"/>
              </a:rPr>
              <a:t>sensing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71700" y="2354579"/>
            <a:ext cx="210312" cy="182880"/>
          </a:xfrm>
          <a:prstGeom prst="rightArrow">
            <a:avLst/>
          </a:prstGeom>
          <a:solidFill>
            <a:srgbClr val="29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3160" y="1965960"/>
            <a:ext cx="1627632" cy="96012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2112264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PERCEPTION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62432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6D82AD"/>
                </a:solidFill>
                <a:latin typeface="Segoe UI"/>
              </a:rPr>
              <a:t>OpenCV proxy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91940" y="2354579"/>
            <a:ext cx="210312" cy="182880"/>
          </a:xfrm>
          <a:prstGeom prst="rightArrow">
            <a:avLst/>
          </a:prstGeom>
          <a:solidFill>
            <a:srgbClr val="29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1965960"/>
            <a:ext cx="1627632" cy="96012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29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112264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BELIEF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62432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6D82AD"/>
                </a:solidFill>
                <a:latin typeface="Segoe UI"/>
              </a:rPr>
              <a:t>probability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12180" y="2354579"/>
            <a:ext cx="210312" cy="182880"/>
          </a:xfrm>
          <a:prstGeom prst="rightArrow">
            <a:avLst/>
          </a:prstGeom>
          <a:solidFill>
            <a:srgbClr val="29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1965960"/>
            <a:ext cx="1627632" cy="96012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29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112264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MISSION OPTIMIZER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62432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6D82AD"/>
                </a:solidFill>
                <a:latin typeface="Segoe UI"/>
              </a:rPr>
              <a:t>score sites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932420" y="2354579"/>
            <a:ext cx="210312" cy="182880"/>
          </a:xfrm>
          <a:prstGeom prst="rightArrow">
            <a:avLst/>
          </a:prstGeom>
          <a:solidFill>
            <a:srgbClr val="29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83880" y="1965960"/>
            <a:ext cx="1627632" cy="96012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2112264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A* PLANNER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62432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6D82AD"/>
                </a:solidFill>
                <a:latin typeface="Segoe UI"/>
              </a:rPr>
              <a:t>energy + risk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852660" y="2354579"/>
            <a:ext cx="210312" cy="182880"/>
          </a:xfrm>
          <a:prstGeom prst="rightArrow">
            <a:avLst/>
          </a:prstGeom>
          <a:solidFill>
            <a:srgbClr val="29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04120" y="1965960"/>
            <a:ext cx="1627632" cy="96012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2112264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MISSION FSM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62432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6D82AD"/>
                </a:solidFill>
                <a:latin typeface="Segoe UI"/>
              </a:rPr>
              <a:t>state machine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08152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D82AD"/>
                </a:solidFill>
                <a:latin typeface="Segoe UI"/>
              </a:rPr>
              <a:t>◀  closed loop: every delivery re-scores every remaining target  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611880"/>
            <a:ext cx="5349240" cy="1371600"/>
          </a:xfrm>
          <a:prstGeom prst="roundRect">
            <a:avLst>
              <a:gd name="adj" fmla="val 55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776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HARDWARE ABSTRACTION LAYER (HAL)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114800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8E4FF"/>
                </a:solidFill>
                <a:latin typeface="Segoe UI"/>
              </a:rPr>
              <a:t>One interface, two worlds:  SIMULATOR (physics + noisy sensors)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8E4FF"/>
                </a:solidFill>
                <a:latin typeface="Segoe UI"/>
              </a:rPr>
              <a:t>and REAL ROVER (ESP32 over serial) — zero brain changes.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611880"/>
            <a:ext cx="5532120" cy="1371600"/>
          </a:xfrm>
          <a:prstGeom prst="roundRect">
            <a:avLst>
              <a:gd name="adj" fmla="val 55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7764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MISSION CONTROL — DIGITAL TWIN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11480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8E4FF"/>
                </a:solidFill>
                <a:latin typeface="Segoe UI"/>
              </a:rPr>
              <a:t>FastAPI + WebSocket dashboard: live map, pose, battery,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8E4FF"/>
                </a:solidFill>
                <a:latin typeface="Segoe UI"/>
              </a:rPr>
              <a:t>AI decisions, energy and yield — in the browser.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3492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362955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8E4FF"/>
                </a:solidFill>
                <a:latin typeface="Segoe UI"/>
              </a:rPr>
              <a:t>Python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73352" y="534924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73352" y="5362955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8E4FF"/>
                </a:solidFill>
                <a:latin typeface="Segoe UI"/>
              </a:rPr>
              <a:t>OpenCV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35224" y="53492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35224" y="5362955"/>
            <a:ext cx="960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8E4FF"/>
                </a:solidFill>
                <a:latin typeface="Segoe UI"/>
              </a:rPr>
              <a:t>NumPy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59935" y="534924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59935" y="5362955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8E4FF"/>
                </a:solidFill>
                <a:latin typeface="Segoe UI"/>
              </a:rPr>
              <a:t>FastAPI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76088" y="53492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76088" y="5362955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8E4FF"/>
                </a:solidFill>
                <a:latin typeface="Segoe UI"/>
              </a:rPr>
              <a:t>21 automated tests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43800" y="53492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5362955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8E4FF"/>
                </a:solidFill>
                <a:latin typeface="Segoe UI"/>
              </a:rPr>
              <a:t>100% run in CI-style suite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D82AD"/>
                </a:solidFill>
                <a:latin typeface="Segoe UI"/>
              </a:rPr>
              <a:t>GitHub: Shreyasderaje/ASTRA-MINE — full source, docs and experiments.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MISSION CONTROL,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The Digital Twin — See It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ASTRA-MINE  ·  SUDARSHAN — SPPN Space Research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D82AD"/>
                </a:solidFill>
                <a:latin typeface="Segoe U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" y="1463040"/>
            <a:ext cx="7013448" cy="4424553"/>
          </a:xfrm>
          <a:prstGeom prst="roundRect">
            <a:avLst>
              <a:gd name="adj" fmla="val 55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17904"/>
            <a:ext cx="6903720" cy="4314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6679" y="160020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Live telemetry, 2× / second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874519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pose, heading, battery, energy, AI decision, planned path, yield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624328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Map starts unknown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898648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rocks appear as the ToF finds them; resource zones from camera + operator cues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648456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Same code, two worlds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922776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SIMULATION mode today — REAL ROVER mode drives the physical rover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4672584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Measured, not claimed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4946904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energy integrated by the INA219 chip; grams weighed by the station load cell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5760720"/>
            <a:ext cx="3977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D82AD"/>
                </a:solidFill>
                <a:latin typeface="Segoe UI"/>
              </a:rPr>
              <a:t>Live run shown: </a:t>
            </a:r>
            <a:r>
              <a:rPr sz="1200" b="1" i="0">
                <a:solidFill>
                  <a:srgbClr val="3DDC84"/>
                </a:solidFill>
                <a:latin typeface="Segoe UI"/>
              </a:rPr>
              <a:t>241 g delivered · 200 g/Wh · 0 collisions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WHAT WE PHYSICALLY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Hardware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ASTRA-MINE  ·  SUDARSHAN — SPPN Space Research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D82AD"/>
                </a:solidFill>
                <a:latin typeface="Segoe U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303520" cy="155448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29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RASPBERRY PI 5 — “BRAIN”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6D82AD"/>
                </a:solidFill>
                <a:latin typeface="Segoe UI"/>
              </a:rPr>
              <a:t>AI vision · planning · mission logic · digital twin server · Wi-Fi dashboard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16168" y="2212848"/>
            <a:ext cx="384048" cy="237744"/>
          </a:xfrm>
          <a:prstGeom prst="rightArrow">
            <a:avLst/>
          </a:prstGeom>
          <a:solidFill>
            <a:srgbClr val="29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 rot="10800000">
            <a:off x="5916168" y="2212848"/>
            <a:ext cx="384048" cy="237744"/>
          </a:xfrm>
          <a:prstGeom prst="rightArrow">
            <a:avLst/>
          </a:prstGeom>
          <a:solidFill>
            <a:srgbClr val="29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4727" y="1847088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6D82AD"/>
                </a:solidFill>
                <a:latin typeface="Segoe UI"/>
              </a:rPr>
              <a:t>USB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1554480"/>
            <a:ext cx="5303520" cy="155448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29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75564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ESP32 — “REFLEXES” (50 Hz)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121408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6D82AD"/>
                </a:solidFill>
                <a:latin typeface="Segoe UI"/>
              </a:rPr>
              <a:t>real-time motor loop, odometry, gyro fusion, failsafes — things Linux cannot 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101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ONBOARD SENSORS &amp; ACTUATORS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39312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53028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D8E4FF"/>
                </a:solidFill>
                <a:latin typeface="Segoe UI"/>
              </a:rPr>
              <a:t>TB6612 → 4× DC motors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45536" y="3639312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45536" y="3653028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D8E4FF"/>
                </a:solidFill>
                <a:latin typeface="Segoe UI"/>
              </a:rPr>
              <a:t>wheel encoders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5192" y="36393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65192" y="3653028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D8E4FF"/>
                </a:solidFill>
                <a:latin typeface="Segoe UI"/>
              </a:rPr>
              <a:t>MPU-6050 IMU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7688" y="363931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65302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D8E4FF"/>
                </a:solidFill>
                <a:latin typeface="Segoe UI"/>
              </a:rPr>
              <a:t>INA219 power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75904" y="363931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65302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D8E4FF"/>
                </a:solidFill>
                <a:latin typeface="Segoe UI"/>
              </a:rPr>
              <a:t>VL53L0X ToF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36393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365302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D8E4FF"/>
                </a:solidFill>
                <a:latin typeface="Segoe UI"/>
              </a:rPr>
              <a:t>scoop servo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224528"/>
            <a:ext cx="5394960" cy="1371600"/>
          </a:xfrm>
          <a:prstGeom prst="roundRect">
            <a:avLst>
              <a:gd name="adj" fmla="val 55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44074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B03A"/>
                </a:solidFill>
                <a:latin typeface="Segoe UI"/>
              </a:rPr>
              <a:t>POWER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4718304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3S Li-ion 11.1 V (40 Wh) + BMS · inline fuse · buck converter 5 V rail · common ground bus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224528"/>
            <a:ext cx="6062472" cy="137160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440740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PROCESSING STATION — 2nd ESP32 + HX711 load cell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718304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Weighs every delivery and streams the measured grams — the honest number behind g/Wh. Failsafes: 600 ms command watchdog · tilt cut-off · manual override.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806440"/>
            <a:ext cx="11183112" cy="566928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870448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Max speed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08076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0.12 m/s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24328" y="5870448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Battery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328" y="608076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40 Wh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71416" y="5870448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Sensors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1416" y="608076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6 onboard + camera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4" y="5870448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Testbed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608076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3 m × 3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65592" y="5870448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Budget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5592" y="608076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₹35k–50k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12680" y="5870448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Team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608076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4 × 16 weeks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OUR RESEARCH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The Rover Doesn't Follow a Path — It Decides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ASTRA-MINE  ·  SUDARSHAN — SPPN Space Research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D82AD"/>
                </a:solidFill>
                <a:latin typeface="Segoe U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11183112" cy="1325880"/>
          </a:xfrm>
          <a:prstGeom prst="roundRect">
            <a:avLst>
              <a:gd name="adj" fmla="val 5500"/>
            </a:avLst>
          </a:prstGeom>
          <a:solidFill>
            <a:srgbClr val="0D1730"/>
          </a:solidFill>
          <a:ln w="9525">
            <a:solidFill>
              <a:srgbClr val="15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11831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onsolas"/>
              </a:rPr>
              <a:t>Mission Score  =  P(resource) × expected yield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04288"/>
            <a:ext cx="111831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29D3FF"/>
                </a:solidFill>
                <a:latin typeface="Consolas"/>
              </a:rPr>
              <a:t>÷  ( E_travel + E_mine + E_return ) × ( 1 + w·risk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90672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6D82AD"/>
                </a:solidFill>
                <a:latin typeface="Segoe UI"/>
              </a:rPr>
              <a:t>Every reachable target re-scored after each delivery — a closed-loop autonomous prospector.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57600"/>
            <a:ext cx="2679192" cy="178308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858768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NEAREST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70832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always the closest zone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074920"/>
            <a:ext cx="2313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D82AD"/>
                </a:solidFill>
                <a:latin typeface="Segoe UI"/>
              </a:rPr>
              <a:t>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3657600"/>
            <a:ext cx="2679192" cy="178308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3858768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SHORTEST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370832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cheapest route wins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5074920"/>
            <a:ext cx="2313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D82AD"/>
                </a:solidFill>
                <a:latin typeface="Segoe UI"/>
              </a:rPr>
              <a:t>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2679192" cy="178308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858768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RESOURCE-GREEDY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370832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richest zone, cost ignored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074920"/>
            <a:ext cx="2313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D82AD"/>
                </a:solidFill>
                <a:latin typeface="Segoe UI"/>
              </a:rPr>
              <a:t>BASELINE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3657600"/>
            <a:ext cx="2679192" cy="1783080"/>
          </a:xfrm>
          <a:prstGeom prst="roundRect">
            <a:avLst>
              <a:gd name="adj" fmla="val 5500"/>
            </a:avLst>
          </a:prstGeom>
          <a:solidFill>
            <a:srgbClr val="0D1730"/>
          </a:solidFill>
          <a:ln w="17780">
            <a:solidFill>
              <a:srgbClr val="FFB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858768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B03A"/>
                </a:solidFill>
                <a:latin typeface="Segoe UI"/>
              </a:rPr>
              <a:t>FULL  (OURS)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370832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value ÷ energy ÷ risk — all three traded 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074920"/>
            <a:ext cx="2313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DDC84"/>
                </a:solidFill>
                <a:latin typeface="Segoe UI"/>
              </a:rPr>
              <a:t>OUR CONTRIBUTION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Why it matters: </a:t>
            </a:r>
            <a:r>
              <a:rPr sz="1300" b="0" i="0">
                <a:solidFill>
                  <a:srgbClr val="D8E4FF"/>
                </a:solidFill>
                <a:latin typeface="Segoe UI"/>
              </a:rPr>
              <a:t>a rover that spends 1 Wh to fetch 1 g is useless — the optimizer maximizes grams per watt-hour, the currency of deep-space robotics.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15 TERRAINS × 4 STRATEGIES · IDENTICAL ENERGY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Results: Decisions Beat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ASTRA-MINE  ·  SUDARSHAN — SPPN Space Research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D82AD"/>
                </a:solidFill>
                <a:latin typeface="Segoe UI"/>
              </a:rPr>
              <a:t>10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72768"/>
          <a:ext cx="64922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572768"/>
            <a:ext cx="4370832" cy="416052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2" y="18105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WHAT THE DATA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2" y="2176272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3DDC84"/>
                </a:solidFill>
                <a:latin typeface="Segoe UI"/>
              </a:rPr>
              <a:t>+14.9%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2" y="290779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resource yield per watt-hour vs the nearest-target baseline (best strategy)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2" y="35844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9D3FF"/>
                </a:solidFill>
                <a:latin typeface="Segoe UI"/>
              </a:rPr>
              <a:t>+12.1%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2" y="4059936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our full optimizer vs baseline — same mission, 9% less energy and 14% less travel than resource-greedy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2" y="4956048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D82AD"/>
                </a:solidFill>
                <a:latin typeface="Segoe UI"/>
              </a:rPr>
              <a:t>Honest note: at 3 m scale travel is cheap, so resource-greedy ties. The scale study (3 m → 5 m) tests where the optimizer's edge grows.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D82AD"/>
                </a:solidFill>
                <a:latin typeface="Segoe UI"/>
              </a:rPr>
              <a:t>Source: our own experiment — software/results/experiments.csv, 15 seeded terrains, 1.2 Wh budget, 0 collisions across 60 runs.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OUR PIECE OF THE MOON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Lunar Analogue Testbed &amp; ISRU Pathway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ASTRA-MINE  ·  SUDARSHAN — SPPN Space Research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D82AD"/>
                </a:solidFill>
                <a:latin typeface="Segoe U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394960" cy="4160520"/>
          </a:xfrm>
          <a:prstGeom prst="roundRect">
            <a:avLst>
              <a:gd name="adj" fmla="val 55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830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3 m × 3 m TESTBED — TOP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48840"/>
            <a:ext cx="4754880" cy="3246120"/>
          </a:xfrm>
          <a:prstGeom prst="rect">
            <a:avLst/>
          </a:prstGeom>
          <a:solidFill>
            <a:srgbClr val="0F192E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23101" y="2693775"/>
            <a:ext cx="181153" cy="181153"/>
          </a:xfrm>
          <a:prstGeom prst="ellipse">
            <a:avLst/>
          </a:prstGeom>
          <a:noFill/>
          <a:ln w="12700">
            <a:solidFill>
              <a:srgbClr val="596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1317" y="3748043"/>
            <a:ext cx="149854" cy="149854"/>
          </a:xfrm>
          <a:prstGeom prst="ellipse">
            <a:avLst/>
          </a:prstGeom>
          <a:noFill/>
          <a:ln w="12700">
            <a:solidFill>
              <a:srgbClr val="596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8596" y="3689316"/>
            <a:ext cx="113842" cy="113842"/>
          </a:xfrm>
          <a:prstGeom prst="ellipse">
            <a:avLst/>
          </a:prstGeom>
          <a:noFill/>
          <a:ln w="12700">
            <a:solidFill>
              <a:srgbClr val="596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15736" y="2506032"/>
            <a:ext cx="119681" cy="119681"/>
          </a:xfrm>
          <a:prstGeom prst="ellipse">
            <a:avLst/>
          </a:prstGeom>
          <a:noFill/>
          <a:ln w="12700">
            <a:solidFill>
              <a:srgbClr val="596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75533" y="4546200"/>
            <a:ext cx="123312" cy="123312"/>
          </a:xfrm>
          <a:prstGeom prst="ellipse">
            <a:avLst/>
          </a:prstGeom>
          <a:noFill/>
          <a:ln w="12700">
            <a:solidFill>
              <a:srgbClr val="596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83697" y="3963069"/>
            <a:ext cx="213718" cy="213718"/>
          </a:xfrm>
          <a:prstGeom prst="ellipse">
            <a:avLst/>
          </a:prstGeom>
          <a:noFill/>
          <a:ln w="12700">
            <a:solidFill>
              <a:srgbClr val="596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70568" y="3339052"/>
            <a:ext cx="216850" cy="216850"/>
          </a:xfrm>
          <a:prstGeom prst="ellipse">
            <a:avLst/>
          </a:prstGeom>
          <a:noFill/>
          <a:ln w="12700">
            <a:solidFill>
              <a:srgbClr val="596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76744" y="4622388"/>
            <a:ext cx="141506" cy="141506"/>
          </a:xfrm>
          <a:prstGeom prst="ellipse">
            <a:avLst/>
          </a:prstGeom>
          <a:noFill/>
          <a:ln w="12700">
            <a:solidFill>
              <a:srgbClr val="596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86542" y="2623393"/>
            <a:ext cx="143577" cy="143577"/>
          </a:xfrm>
          <a:prstGeom prst="ellipse">
            <a:avLst/>
          </a:prstGeom>
          <a:noFill/>
          <a:ln w="12700">
            <a:solidFill>
              <a:srgbClr val="596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97610" y="2778172"/>
            <a:ext cx="173545" cy="173545"/>
          </a:xfrm>
          <a:prstGeom prst="ellipse">
            <a:avLst/>
          </a:prstGeom>
          <a:noFill/>
          <a:ln w="12700">
            <a:solidFill>
              <a:srgbClr val="596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54067" y="3297059"/>
            <a:ext cx="169830" cy="169830"/>
          </a:xfrm>
          <a:prstGeom prst="ellipse">
            <a:avLst/>
          </a:prstGeom>
          <a:noFill/>
          <a:ln w="12700">
            <a:solidFill>
              <a:srgbClr val="596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49501" y="2472049"/>
            <a:ext cx="132327" cy="132327"/>
          </a:xfrm>
          <a:prstGeom prst="ellipse">
            <a:avLst/>
          </a:prstGeom>
          <a:noFill/>
          <a:ln w="12700">
            <a:solidFill>
              <a:srgbClr val="596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1386" y="3458762"/>
            <a:ext cx="144198" cy="144198"/>
          </a:xfrm>
          <a:prstGeom prst="ellipse">
            <a:avLst/>
          </a:prstGeom>
          <a:noFill/>
          <a:ln w="12700">
            <a:solidFill>
              <a:srgbClr val="596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43263" y="3528585"/>
            <a:ext cx="142620" cy="142620"/>
          </a:xfrm>
          <a:prstGeom prst="ellipse">
            <a:avLst/>
          </a:prstGeom>
          <a:noFill/>
          <a:ln w="12700">
            <a:solidFill>
              <a:srgbClr val="596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0180" y="2628900"/>
            <a:ext cx="777240" cy="777240"/>
          </a:xfrm>
          <a:prstGeom prst="ellipse">
            <a:avLst/>
          </a:prstGeom>
          <a:noFill/>
          <a:ln w="12700">
            <a:solidFill>
              <a:srgbClr val="194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15059" y="2803778"/>
            <a:ext cx="427482" cy="427482"/>
          </a:xfrm>
          <a:prstGeom prst="ellipse">
            <a:avLst/>
          </a:prstGeom>
          <a:noFill/>
          <a:ln w="12700">
            <a:solidFill>
              <a:srgbClr val="247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69080" y="2743200"/>
            <a:ext cx="640080" cy="640080"/>
          </a:xfrm>
          <a:prstGeom prst="ellipse">
            <a:avLst/>
          </a:prstGeom>
          <a:noFill/>
          <a:ln w="12700">
            <a:solidFill>
              <a:srgbClr val="194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13098" y="2887218"/>
            <a:ext cx="352044" cy="352044"/>
          </a:xfrm>
          <a:prstGeom prst="ellipse">
            <a:avLst/>
          </a:prstGeom>
          <a:noFill/>
          <a:ln w="12700">
            <a:solidFill>
              <a:srgbClr val="247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77340" y="4183380"/>
            <a:ext cx="868680" cy="868680"/>
          </a:xfrm>
          <a:prstGeom prst="ellipse">
            <a:avLst/>
          </a:prstGeom>
          <a:noFill/>
          <a:ln w="12700">
            <a:solidFill>
              <a:srgbClr val="194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772793" y="4378833"/>
            <a:ext cx="477773" cy="477773"/>
          </a:xfrm>
          <a:prstGeom prst="ellipse">
            <a:avLst/>
          </a:prstGeom>
          <a:noFill/>
          <a:ln w="12700">
            <a:solidFill>
              <a:srgbClr val="247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14800" y="4160520"/>
            <a:ext cx="731520" cy="731520"/>
          </a:xfrm>
          <a:prstGeom prst="ellipse">
            <a:avLst/>
          </a:prstGeom>
          <a:noFill/>
          <a:ln w="12700">
            <a:solidFill>
              <a:srgbClr val="194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279392" y="4325112"/>
            <a:ext cx="402336" cy="402336"/>
          </a:xfrm>
          <a:prstGeom prst="ellipse">
            <a:avLst/>
          </a:prstGeom>
          <a:noFill/>
          <a:ln w="12700">
            <a:solidFill>
              <a:srgbClr val="247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712" y="4645152"/>
            <a:ext cx="219456" cy="219456"/>
          </a:xfrm>
          <a:prstGeom prst="rect">
            <a:avLst/>
          </a:prstGeom>
          <a:solidFill>
            <a:srgbClr val="29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91947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9D3FF"/>
                </a:solidFill>
                <a:latin typeface="Segoe UI"/>
              </a:rPr>
              <a:t>STATION</a:t>
            </a:r>
          </a:p>
        </p:txBody>
      </p:sp>
      <p:sp>
        <p:nvSpPr>
          <p:cNvPr id="34" name="Isosceles Triangle 33"/>
          <p:cNvSpPr/>
          <p:nvPr/>
        </p:nvSpPr>
        <p:spPr>
          <a:xfrm>
            <a:off x="4882896" y="3648456"/>
            <a:ext cx="201168" cy="201168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50468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D82AD"/>
                </a:solidFill>
                <a:latin typeface="Segoe UI"/>
              </a:rPr>
              <a:t>rocks ○   resource zones ○○   rover ▲   station 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87044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D82AD"/>
                </a:solidFill>
                <a:latin typeface="Segoe UI"/>
              </a:rPr>
              <a:t>Craters, slopes and rocks are rebuilt to match the simulator — the sim is a 1:1 model of this floor.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59" y="1691640"/>
            <a:ext cx="5376672" cy="749808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18196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B03A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178308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SCOOP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2075688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D82AD"/>
                </a:solidFill>
                <a:latin typeface="Segoe UI"/>
              </a:rPr>
              <a:t>rover collects marked simulant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59" y="2560320"/>
            <a:ext cx="5376672" cy="749808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6248" y="26883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B03A"/>
                </a:solidFill>
                <a:latin typeface="Segoe U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265176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DELIVER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2944368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D82AD"/>
                </a:solidFill>
                <a:latin typeface="Segoe UI"/>
              </a:rPr>
              <a:t>returns to the processing station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59" y="3429000"/>
            <a:ext cx="5376672" cy="749808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56248" y="35570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B03A"/>
                </a:solidFill>
                <a:latin typeface="Segoe U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352044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WEIGH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3813048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D82AD"/>
                </a:solidFill>
                <a:latin typeface="Segoe UI"/>
              </a:rPr>
              <a:t>load cell measures the true grams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59" y="4297680"/>
            <a:ext cx="5376672" cy="749808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56248" y="44256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B03A"/>
                </a:solidFill>
                <a:latin typeface="Segoe U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438912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YIELD MODEL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4681728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D82AD"/>
                </a:solidFill>
                <a:latin typeface="Segoe UI"/>
              </a:rPr>
              <a:t>recoverable fraction → resource estimate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9359" y="5166360"/>
            <a:ext cx="5376672" cy="749808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56248" y="52943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B03A"/>
                </a:solidFill>
                <a:latin typeface="Segoe UI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525780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PROPELLANT 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5550408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D82AD"/>
                </a:solidFill>
                <a:latin typeface="Segoe UI"/>
              </a:rPr>
              <a:t>electrolysis → theoretical H₂ + O₂ (modelled only)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59" y="6053328"/>
            <a:ext cx="5376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6D82AD"/>
                </a:solidFill>
                <a:latin typeface="Segoe UI"/>
              </a:rPr>
              <a:t>Demonstrates the full ISRU chain — without ever producing a dangerous chemical.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16 WEEKS, 4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ASTRA-MINE  ·  SUDARSHAN — SPPN Space Research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D82AD"/>
                </a:solidFill>
                <a:latin typeface="Segoe U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1002975" cy="22860"/>
          </a:xfrm>
          <a:prstGeom prst="rect">
            <a:avLst/>
          </a:prstGeom>
          <a:solidFill>
            <a:srgbClr val="1D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1208" y="1591056"/>
            <a:ext cx="146304" cy="146304"/>
          </a:xfrm>
          <a:prstGeom prst="ellipse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2121408" cy="283464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DDC84"/>
                </a:solidFill>
                <a:latin typeface="Segoe UI"/>
              </a:rPr>
              <a:t>WEEKS 1–4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DESIGN +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17556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D82AD"/>
                </a:solidFill>
                <a:latin typeface="Segoe UI"/>
              </a:rPr>
              <a:t>architecture · world simulator · vision dataset · strategy experiments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97680"/>
            <a:ext cx="1618487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11396"/>
            <a:ext cx="161848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3DDC84"/>
                </a:solidFill>
                <a:latin typeface="Segoe UI"/>
              </a:rPr>
              <a:t>SOFTWARE: DONE</a:t>
            </a:r>
          </a:p>
        </p:txBody>
      </p:sp>
      <p:sp>
        <p:nvSpPr>
          <p:cNvPr id="15" name="Oval 14"/>
          <p:cNvSpPr/>
          <p:nvPr/>
        </p:nvSpPr>
        <p:spPr>
          <a:xfrm>
            <a:off x="2788920" y="1591056"/>
            <a:ext cx="146304" cy="146304"/>
          </a:xfrm>
          <a:prstGeom prst="ellipse">
            <a:avLst/>
          </a:prstGeom>
          <a:solidFill>
            <a:srgbClr val="29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70632" y="2057400"/>
            <a:ext cx="2121408" cy="283464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3512" y="224028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WEEKS 5–7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2578608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ROVER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3512" y="3246120"/>
            <a:ext cx="17556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D82AD"/>
                </a:solidFill>
                <a:latin typeface="Segoe UI"/>
              </a:rPr>
              <a:t>chassis · power · firmware · bring-up checks B1–B10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53512" y="4297680"/>
            <a:ext cx="1618487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53512" y="4311396"/>
            <a:ext cx="161848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9D3FF"/>
                </a:solidFill>
                <a:latin typeface="Segoe UI"/>
              </a:rPr>
              <a:t>build phase</a:t>
            </a:r>
          </a:p>
        </p:txBody>
      </p:sp>
      <p:sp>
        <p:nvSpPr>
          <p:cNvPr id="22" name="Oval 21"/>
          <p:cNvSpPr/>
          <p:nvPr/>
        </p:nvSpPr>
        <p:spPr>
          <a:xfrm>
            <a:off x="5056631" y="1591056"/>
            <a:ext cx="146304" cy="146304"/>
          </a:xfrm>
          <a:prstGeom prst="ellipse">
            <a:avLst/>
          </a:prstGeom>
          <a:solidFill>
            <a:srgbClr val="29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38344" y="2057400"/>
            <a:ext cx="2121408" cy="283464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21224" y="224028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WEEKS 8–9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2578608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PERCEPTION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1224" y="3246120"/>
            <a:ext cx="17556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D82AD"/>
                </a:solidFill>
                <a:latin typeface="Segoe UI"/>
              </a:rPr>
              <a:t>camera on Pi · HSV/YOLO tuning · live detector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21224" y="4297680"/>
            <a:ext cx="1618487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21224" y="4311396"/>
            <a:ext cx="161848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9D3FF"/>
                </a:solidFill>
                <a:latin typeface="Segoe UI"/>
              </a:rPr>
              <a:t>integration</a:t>
            </a:r>
          </a:p>
        </p:txBody>
      </p:sp>
      <p:sp>
        <p:nvSpPr>
          <p:cNvPr id="29" name="Oval 28"/>
          <p:cNvSpPr/>
          <p:nvPr/>
        </p:nvSpPr>
        <p:spPr>
          <a:xfrm>
            <a:off x="7324344" y="1591056"/>
            <a:ext cx="146304" cy="146304"/>
          </a:xfrm>
          <a:prstGeom prst="ellipse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06055" y="2057400"/>
            <a:ext cx="2121408" cy="283464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88936" y="224028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B03A"/>
                </a:solidFill>
                <a:latin typeface="Segoe UI"/>
              </a:rPr>
              <a:t>WEEKS 10–12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2578608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AUTONOMY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246120"/>
            <a:ext cx="17556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D82AD"/>
                </a:solidFill>
                <a:latin typeface="Segoe UI"/>
              </a:rPr>
              <a:t>calibration · ToF rocks · closed-loop missions on testbed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88936" y="4297680"/>
            <a:ext cx="1618487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88936" y="4311396"/>
            <a:ext cx="161848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B03A"/>
                </a:solidFill>
                <a:latin typeface="Segoe UI"/>
              </a:rPr>
              <a:t>the real thing</a:t>
            </a:r>
          </a:p>
        </p:txBody>
      </p:sp>
      <p:sp>
        <p:nvSpPr>
          <p:cNvPr id="36" name="Oval 35"/>
          <p:cNvSpPr/>
          <p:nvPr/>
        </p:nvSpPr>
        <p:spPr>
          <a:xfrm>
            <a:off x="9592056" y="1591056"/>
            <a:ext cx="146304" cy="146304"/>
          </a:xfrm>
          <a:prstGeom prst="ellipse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73768" y="2057400"/>
            <a:ext cx="2121408" cy="283464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56648" y="224028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DDC84"/>
                </a:solidFill>
                <a:latin typeface="Segoe UI"/>
              </a:rPr>
              <a:t>WEEKS 13–16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56648" y="2578608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PROVE 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8" y="3246120"/>
            <a:ext cx="17556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D82AD"/>
                </a:solidFill>
                <a:latin typeface="Segoe UI"/>
              </a:rPr>
              <a:t>experiments · report · PPT · filmed demo day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56648" y="4297680"/>
            <a:ext cx="1618487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56648" y="4311396"/>
            <a:ext cx="161848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3DDC84"/>
                </a:solidFill>
                <a:latin typeface="Segoe UI"/>
              </a:rPr>
              <a:t>delivery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492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Risk doctrine: </a:t>
            </a:r>
            <a:r>
              <a:rPr sz="1300" b="0" i="0">
                <a:solidFill>
                  <a:srgbClr val="D8E4FF"/>
                </a:solidFill>
                <a:latin typeface="Segoe UI"/>
              </a:rPr>
              <a:t>manual override always wired · MVP first · modular mining mechanism · no hazardous chemistry · integration rehearsed weekly, not at the end.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WHAT IT 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Budget &amp; Team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ASTRA-MINE  ·  SUDARSHAN — SPPN Space Research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D82AD"/>
                </a:solidFill>
                <a:latin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4937760" cy="443484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BUDGET (REALISTIC, STUDENT-SCALE)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21408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₹35k – ₹50k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D82AD"/>
                </a:solidFill>
                <a:latin typeface="Segoe UI"/>
              </a:rPr>
              <a:t>recommended build  ·  ₹20k–30k minimum viable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9300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06724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D8E4FF"/>
                </a:solidFill>
                <a:latin typeface="Segoe UI"/>
              </a:rPr>
              <a:t>Mobility (chassis, motors, wheels, driver)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95344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09059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D8E4FF"/>
                </a:solidFill>
                <a:latin typeface="Segoe UI"/>
              </a:rPr>
              <a:t>Power (3S pack, BMS, buck)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976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1139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D8E4FF"/>
                </a:solidFill>
                <a:latin typeface="Segoe UI"/>
              </a:rPr>
              <a:t>Brain (Pi 5 kit + camera)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700016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13732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D8E4FF"/>
                </a:solidFill>
                <a:latin typeface="Segoe UI"/>
              </a:rPr>
              <a:t>Sensors (IMU, INA219, ToF, encoders)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102352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1606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D8E4FF"/>
                </a:solidFill>
                <a:latin typeface="Segoe UI"/>
              </a:rPr>
              <a:t>Station node + scoop + testbed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5955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D82AD"/>
                </a:solidFill>
                <a:latin typeface="Segoe UI"/>
              </a:rPr>
              <a:t>No LiDAR, no lab-grade simulant — scope discipline is the budget strategy.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1572768"/>
            <a:ext cx="5971032" cy="960120"/>
          </a:xfrm>
          <a:prstGeom prst="roundRect">
            <a:avLst>
              <a:gd name="adj" fmla="val 55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71032" y="170078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Shreyas Deraje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2" y="2029967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B03A"/>
                </a:solidFill>
                <a:latin typeface="Segoe UI"/>
              </a:rPr>
              <a:t>TEAM LEAD · AI &amp; SYSTEM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1032" y="2267712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D82AD"/>
                </a:solidFill>
                <a:latin typeface="Segoe UI"/>
              </a:rPr>
              <a:t>mission optimizer, perception, integration, research lead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0" y="2642615"/>
            <a:ext cx="5971032" cy="960120"/>
          </a:xfrm>
          <a:prstGeom prst="roundRect">
            <a:avLst>
              <a:gd name="adj" fmla="val 55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71032" y="27706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Pruthviraj Anchan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1032" y="3099815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9D3FF"/>
                </a:solidFill>
                <a:latin typeface="Segoe UI"/>
              </a:rPr>
              <a:t>ROBOTICS &amp; MECHANISMS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1032" y="3337559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D82AD"/>
                </a:solidFill>
                <a:latin typeface="Segoe UI"/>
              </a:rPr>
              <a:t>chassis, drivetrain, scoop design, testbed construction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0" y="3712463"/>
            <a:ext cx="5971032" cy="960120"/>
          </a:xfrm>
          <a:prstGeom prst="roundRect">
            <a:avLst>
              <a:gd name="adj" fmla="val 55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71032" y="3840479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Puneeth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71032" y="4169663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9D3FF"/>
                </a:solidFill>
                <a:latin typeface="Segoe UI"/>
              </a:rPr>
              <a:t>EMBEDDED &amp; POWER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1032" y="4407407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D82AD"/>
                </a:solidFill>
                <a:latin typeface="Segoe UI"/>
              </a:rPr>
              <a:t>ESP32 firmware, wiring, battery system, sensor bring-up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4782312"/>
            <a:ext cx="5971032" cy="960120"/>
          </a:xfrm>
          <a:prstGeom prst="roundRect">
            <a:avLst>
              <a:gd name="adj" fmla="val 55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71032" y="4910327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Naveen 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71032" y="5239512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9D3FF"/>
                </a:solidFill>
                <a:latin typeface="Segoe UI"/>
              </a:rPr>
              <a:t>SOFTWARE &amp; DIGITAL TWIN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71032" y="5477255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D82AD"/>
                </a:solidFill>
                <a:latin typeface="Segoe UI"/>
              </a:rPr>
              <a:t>dashboard, telemetry, data logging, experiments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D3FF"/>
                </a:solidFill>
                <a:latin typeface="Segoe UI"/>
              </a:rPr>
              <a:t>WHERE ASTRA-MINE GOES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82AD"/>
                </a:solidFill>
                <a:latin typeface="Segoe UI"/>
              </a:rPr>
              <a:t>ASTRA-MINE  ·  SUDARSHAN — SPPN Space Research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D82AD"/>
                </a:solidFill>
                <a:latin typeface="Segoe U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83112" cy="786384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9D3FF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01368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Multi-rover cooperative mining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892808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rover teams that split prospecting, mapping and hauling — the direction NASA's CADRE mission is flying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78608"/>
            <a:ext cx="11183112" cy="786384"/>
          </a:xfrm>
          <a:prstGeom prst="roundRect">
            <a:avLst>
              <a:gd name="adj" fmla="val 55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6148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9D3FF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88336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Reinforcement learning on the twin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779776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the simulator is a safe gym: train smarter target policies, deploy the winner on the rover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65576"/>
            <a:ext cx="11183112" cy="786384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4845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9D3FF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75304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Spectral proxy sensing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666744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near-infrared reflectance instead of colour markers — a step toward real volatiles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52544"/>
            <a:ext cx="11183112" cy="786384"/>
          </a:xfrm>
          <a:prstGeom prst="roundRect">
            <a:avLst>
              <a:gd name="adj" fmla="val 5500"/>
            </a:avLst>
          </a:prstGeom>
          <a:solidFill>
            <a:srgbClr val="0D17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3542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9D3FF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46227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SLAM + field trials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4553712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replace odometry drift with proper mapping; take the rover outdoors on rough terrain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39512"/>
            <a:ext cx="11183112" cy="786384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2239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9D3FF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34924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Open dataset 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5440679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D82AD"/>
                </a:solidFill>
                <a:latin typeface="Segoe UI"/>
              </a:rPr>
              <a:t>publish the ASTRA-MINE Lunar Analogue Dataset for other student teams to benchmark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D8E4FF"/>
                </a:solidFill>
                <a:latin typeface="Segoe UI"/>
              </a:rPr>
              <a:t>The architecture is the product — every upgrade plugs into the same closed loop.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3931920"/>
            <a:ext cx="3657600" cy="3657600"/>
          </a:xfrm>
          <a:prstGeom prst="ellipse">
            <a:avLst/>
          </a:prstGeom>
          <a:noFill/>
          <a:ln w="15240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" y="4434840"/>
            <a:ext cx="2651760" cy="2651760"/>
          </a:xfrm>
          <a:prstGeom prst="ellipse">
            <a:avLst/>
          </a:prstGeom>
          <a:noFill/>
          <a:ln w="15240">
            <a:solidFill>
              <a:srgbClr val="141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4884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310128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6D82AD"/>
                </a:solidFill>
                <a:latin typeface="Segoe UI"/>
              </a:rPr>
              <a:t>ASTRA-MINE — Autonomous AI-Driven Extraterrestrial Resource Prospecting &amp; ISRU Demonstrator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67328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29D3FF"/>
                </a:solidFill>
                <a:latin typeface="Segoe UI"/>
              </a:rPr>
              <a:t>Questions · live demo · github.com/Shreyasderaje/ASTRA-MINE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61772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D82AD"/>
                </a:solidFill>
                <a:latin typeface="Segoe UI"/>
              </a:rPr>
              <a:t>T E A M   S U D A R S H A N   ·   S P P N   S P A C E   R E S E A R C H   T E A 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5074920"/>
            <a:ext cx="2395728" cy="86868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221224"/>
            <a:ext cx="23957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Shreyas Deraje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55040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29D3FF"/>
                </a:solidFill>
                <a:latin typeface="Segoe UI"/>
              </a:rPr>
              <a:t>4VP24AI043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2736" y="5074920"/>
            <a:ext cx="2395728" cy="86868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5221224"/>
            <a:ext cx="23957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Pruthviraj Anchan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555040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29D3FF"/>
                </a:solidFill>
                <a:latin typeface="Segoe UI"/>
              </a:rPr>
              <a:t>4VP24AI031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5074920"/>
            <a:ext cx="2395728" cy="86868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5221224"/>
            <a:ext cx="23957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Puneeth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555040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29D3FF"/>
                </a:solidFill>
                <a:latin typeface="Segoe UI"/>
              </a:rPr>
              <a:t>4VP25AI403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96528" y="5074920"/>
            <a:ext cx="2395728" cy="868680"/>
          </a:xfrm>
          <a:prstGeom prst="roundRect">
            <a:avLst>
              <a:gd name="adj" fmla="val 5500"/>
            </a:avLst>
          </a:prstGeom>
          <a:solidFill>
            <a:srgbClr val="101A30"/>
          </a:solidFill>
          <a:ln w="9525">
            <a:solidFill>
              <a:srgbClr val="1D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5221224"/>
            <a:ext cx="23957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Naveen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555040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29D3FF"/>
                </a:solidFill>
                <a:latin typeface="Segoe UI"/>
              </a:rPr>
              <a:t>4VP25AI401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ASTRA-MINE - SUDARSHAN | SPPN Space Research Team</dc:title>
  <dc:subject/>
  <dc:creator>SPPN Space Research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